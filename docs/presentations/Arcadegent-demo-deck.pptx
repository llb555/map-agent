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731520" y="4389120"/>
            <a:ext cx="6583680" cy="1463040"/>
          </a:xfrm>
          <a:prstGeom prst="rect">
            <a:avLst/>
          </a:prstGeom>
          <a:solidFill>
            <a:srgbClr val="2F5E4E"/>
          </a:solidFill>
          <a:ln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22960" y="822960"/>
            <a:ext cx="868680" cy="1737360"/>
          </a:xfrm>
          <a:prstGeom prst="line">
            <a:avLst/>
          </a:prstGeom>
          <a:ln w="44450">
            <a:solidFill>
              <a:srgbClr val="EA7B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68096" y="768096"/>
            <a:ext cx="128016" cy="128016"/>
          </a:xfrm>
          <a:prstGeom prst="ellipse">
            <a:avLst/>
          </a:prstGeom>
          <a:solidFill>
            <a:srgbClr val="EA7B62"/>
          </a:solidFill>
          <a:ln>
            <a:solidFill>
              <a:srgbClr val="EA7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133856" y="1115568"/>
            <a:ext cx="868680" cy="1078992"/>
          </a:xfrm>
          <a:prstGeom prst="line">
            <a:avLst/>
          </a:prstGeom>
          <a:ln w="44450">
            <a:solidFill>
              <a:srgbClr val="F5A6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78992" y="1060704"/>
            <a:ext cx="128016" cy="128016"/>
          </a:xfrm>
          <a:prstGeom prst="ellipse">
            <a:avLst/>
          </a:prstGeom>
          <a:solidFill>
            <a:srgbClr val="F5A65B"/>
          </a:solidFill>
          <a:ln>
            <a:solidFill>
              <a:srgbClr val="F5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444752" y="1417320"/>
            <a:ext cx="868680" cy="411480"/>
          </a:xfrm>
          <a:prstGeom prst="line">
            <a:avLst/>
          </a:prstGeom>
          <a:ln w="44450">
            <a:solidFill>
              <a:srgbClr val="D5E7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389888" y="1362456"/>
            <a:ext cx="128016" cy="128016"/>
          </a:xfrm>
          <a:prstGeom prst="ellipse">
            <a:avLst/>
          </a:prstGeom>
          <a:solidFill>
            <a:srgbClr val="D5E77A"/>
          </a:solidFill>
          <a:ln>
            <a:solidFill>
              <a:srgbClr val="D5E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755648" y="1508760"/>
            <a:ext cx="868680" cy="210312"/>
          </a:xfrm>
          <a:prstGeom prst="line">
            <a:avLst/>
          </a:prstGeom>
          <a:ln w="44450">
            <a:solidFill>
              <a:srgbClr val="62B8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700784" y="1664207"/>
            <a:ext cx="128016" cy="128016"/>
          </a:xfrm>
          <a:prstGeom prst="ellipse">
            <a:avLst/>
          </a:prstGeom>
          <a:solidFill>
            <a:srgbClr val="62B8D8"/>
          </a:solidFill>
          <a:ln>
            <a:solidFill>
              <a:srgbClr val="62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066544" y="1188720"/>
            <a:ext cx="868680" cy="841248"/>
          </a:xfrm>
          <a:prstGeom prst="line">
            <a:avLst/>
          </a:prstGeom>
          <a:ln w="44450">
            <a:solidFill>
              <a:srgbClr val="8D7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011680" y="1975104"/>
            <a:ext cx="128016" cy="128016"/>
          </a:xfrm>
          <a:prstGeom prst="ellipse">
            <a:avLst/>
          </a:prstGeom>
          <a:solidFill>
            <a:srgbClr val="8D74D8"/>
          </a:solidFill>
          <a:ln>
            <a:solidFill>
              <a:srgbClr val="8D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051560"/>
            <a:ext cx="4480560" cy="10058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PingFang SC"/>
              </a:rPr>
              <a:t>Arcadegent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28800"/>
            <a:ext cx="402336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A7D89E"/>
                </a:solidFill>
                <a:latin typeface="PingFang SC"/>
              </a:rPr>
              <a:t>音游机厅检索、地图导航与知识问答一体化 Agent 工作台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42032"/>
            <a:ext cx="448056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00" b="0" i="0">
                <a:solidFill>
                  <a:srgbClr val="E9F2EB"/>
                </a:solidFill>
                <a:latin typeface="PingFang SC"/>
              </a:rPr>
              <a:t>把自然语言对话、结构化检索、路线规划、附件问答与知识库维护，整合成一个可演示、可扩展的任务型产品原型。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913632"/>
            <a:ext cx="1078992" cy="384048"/>
          </a:xfrm>
          <a:prstGeom prst="roundRect">
            <a:avLst/>
          </a:prstGeom>
          <a:solidFill>
            <a:srgbClr val="2F5E4E"/>
          </a:solidFill>
          <a:ln w="12700"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31920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Agent 对话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8528" y="3913632"/>
            <a:ext cx="1078992" cy="384048"/>
          </a:xfrm>
          <a:prstGeom prst="roundRect">
            <a:avLst/>
          </a:prstGeom>
          <a:solidFill>
            <a:srgbClr val="31483F"/>
          </a:solidFill>
          <a:ln w="12700">
            <a:solidFill>
              <a:srgbClr val="314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38528" y="3931920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机厅检索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3913632"/>
            <a:ext cx="1078992" cy="384048"/>
          </a:xfrm>
          <a:prstGeom prst="roundRect">
            <a:avLst/>
          </a:prstGeom>
          <a:solidFill>
            <a:srgbClr val="405248"/>
          </a:solidFill>
          <a:ln w="12700">
            <a:solidFill>
              <a:srgbClr val="405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27248" y="3931920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地图路线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913632"/>
            <a:ext cx="1078992" cy="384048"/>
          </a:xfrm>
          <a:prstGeom prst="roundRect">
            <a:avLst/>
          </a:prstGeom>
          <a:solidFill>
            <a:srgbClr val="53635D"/>
          </a:solidFill>
          <a:ln w="12700">
            <a:solidFill>
              <a:srgbClr val="536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3931920"/>
            <a:ext cx="1078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知识库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97880" y="713232"/>
            <a:ext cx="2514600" cy="3703320"/>
          </a:xfrm>
          <a:prstGeom prst="roundRect">
            <a:avLst/>
          </a:prstGeom>
          <a:solidFill>
            <a:srgbClr val="F5F0E4"/>
          </a:solidFill>
          <a:ln w="12700">
            <a:solidFill>
              <a:srgbClr val="E5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143000"/>
            <a:ext cx="2240280" cy="22402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36208" y="3383280"/>
            <a:ext cx="18288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700" b="1" i="0">
                <a:solidFill>
                  <a:srgbClr val="2F5E4E"/>
                </a:solidFill>
                <a:latin typeface="PingFang SC"/>
              </a:rPr>
              <a:t>Demo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3767328"/>
            <a:ext cx="2011680" cy="31089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50" b="0" i="0">
                <a:solidFill>
                  <a:srgbClr val="66736B"/>
                </a:solidFill>
                <a:latin typeface="PingFang SC"/>
              </a:rPr>
              <a:t>面向演示、路演与答辩场景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223029"/>
                </a:solidFill>
                <a:latin typeface="PingFang SC"/>
              </a:rPr>
              <a:t>项目解决的问题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0">
                <a:solidFill>
                  <a:srgbClr val="66736B"/>
                </a:solidFill>
                <a:latin typeface="PingFang SC"/>
              </a:rPr>
              <a:t>把分散的查店流程压缩成一条连续体验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15468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7824" y="1581912"/>
            <a:ext cx="493776" cy="493776"/>
          </a:xfrm>
          <a:prstGeom prst="roundRect">
            <a:avLst/>
          </a:prstGeom>
          <a:solidFill>
            <a:srgbClr val="EA7B62"/>
          </a:solidFill>
          <a:ln w="12700">
            <a:solidFill>
              <a:srgbClr val="EA7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18488"/>
            <a:ext cx="36576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6192" y="1563624"/>
            <a:ext cx="11887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检索分散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837944"/>
            <a:ext cx="205740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找机厅、看机台、查路线分散在多个页面与 App。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96312"/>
            <a:ext cx="315468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" y="2660904"/>
            <a:ext cx="493776" cy="493776"/>
          </a:xfrm>
          <a:prstGeom prst="roundRect">
            <a:avLst/>
          </a:prstGeom>
          <a:solidFill>
            <a:srgbClr val="F5A65B"/>
          </a:solidFill>
          <a:ln w="12700">
            <a:solidFill>
              <a:srgbClr val="F5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697480"/>
            <a:ext cx="36576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642616"/>
            <a:ext cx="11887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决策割裂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916936"/>
            <a:ext cx="205740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用户要来回切换列表、地图和聊天工具才能做判断。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75304"/>
            <a:ext cx="315468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7824" y="3739896"/>
            <a:ext cx="493776" cy="493776"/>
          </a:xfrm>
          <a:prstGeom prst="roundRect">
            <a:avLst/>
          </a:prstGeom>
          <a:solidFill>
            <a:srgbClr val="8D74D8"/>
          </a:solidFill>
          <a:ln w="12700">
            <a:solidFill>
              <a:srgbClr val="8D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776472"/>
            <a:ext cx="36576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721608"/>
            <a:ext cx="118872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资料离散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95928"/>
            <a:ext cx="2057400" cy="40233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补充信息往往沉在文档、截图和群消息里，难以复用。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1417320"/>
            <a:ext cx="3657600" cy="26517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FFF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1627632"/>
            <a:ext cx="24688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F5E4E"/>
                </a:solidFill>
                <a:latin typeface="PingFang SC"/>
              </a:rPr>
              <a:t>Arcadegent 的处理方式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2157984"/>
            <a:ext cx="402336" cy="402336"/>
          </a:xfrm>
          <a:prstGeom prst="ellipse">
            <a:avLst/>
          </a:prstGeom>
          <a:solidFill>
            <a:srgbClr val="2F5E4E"/>
          </a:solidFill>
          <a:ln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4296" y="2258568"/>
            <a:ext cx="228600" cy="91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33472"/>
            <a:ext cx="65836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50" b="1" i="0">
                <a:solidFill>
                  <a:srgbClr val="223029"/>
                </a:solidFill>
                <a:latin typeface="PingFang SC"/>
              </a:rPr>
              <a:t>用户一句话提问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974336" y="2359152"/>
            <a:ext cx="493776" cy="0"/>
          </a:xfrm>
          <a:prstGeom prst="line">
            <a:avLst/>
          </a:prstGeom>
          <a:ln w="254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468112" y="2157984"/>
            <a:ext cx="402336" cy="402336"/>
          </a:xfrm>
          <a:prstGeom prst="ellipse">
            <a:avLst/>
          </a:prstGeom>
          <a:solidFill>
            <a:srgbClr val="D5E77A"/>
          </a:solidFill>
          <a:ln>
            <a:solidFill>
              <a:srgbClr val="D5E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50408" y="2258568"/>
            <a:ext cx="228600" cy="91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2633472"/>
            <a:ext cx="65836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50" b="1" i="0">
                <a:solidFill>
                  <a:srgbClr val="223029"/>
                </a:solidFill>
                <a:latin typeface="PingFang SC"/>
              </a:rPr>
              <a:t>Agent 决策调用工具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70448" y="2359152"/>
            <a:ext cx="493776" cy="0"/>
          </a:xfrm>
          <a:prstGeom prst="line">
            <a:avLst/>
          </a:prstGeom>
          <a:ln w="254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364224" y="2157984"/>
            <a:ext cx="402336" cy="402336"/>
          </a:xfrm>
          <a:prstGeom prst="ellipse">
            <a:avLst/>
          </a:prstGeom>
          <a:solidFill>
            <a:srgbClr val="62B8D8"/>
          </a:solidFill>
          <a:ln>
            <a:solidFill>
              <a:srgbClr val="62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258568"/>
            <a:ext cx="228600" cy="91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2633472"/>
            <a:ext cx="65836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50" b="1" i="0">
                <a:solidFill>
                  <a:srgbClr val="223029"/>
                </a:solidFill>
                <a:latin typeface="PingFang SC"/>
              </a:rPr>
              <a:t>前端实时展示过程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766560" y="2359152"/>
            <a:ext cx="493776" cy="0"/>
          </a:xfrm>
          <a:prstGeom prst="line">
            <a:avLst/>
          </a:prstGeom>
          <a:ln w="254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260336" y="2157984"/>
            <a:ext cx="402336" cy="402336"/>
          </a:xfrm>
          <a:prstGeom prst="ellipse">
            <a:avLst/>
          </a:prstGeom>
          <a:solidFill>
            <a:srgbClr val="8D74D8"/>
          </a:solidFill>
          <a:ln>
            <a:solidFill>
              <a:srgbClr val="8D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42632" y="2258568"/>
            <a:ext cx="228600" cy="91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23176" y="2633472"/>
            <a:ext cx="65836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50" b="1" i="0">
                <a:solidFill>
                  <a:srgbClr val="223029"/>
                </a:solidFill>
                <a:latin typeface="PingFang SC"/>
              </a:rPr>
              <a:t>返回地图 / 路线 / 知识结果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53712" y="3310128"/>
            <a:ext cx="3063240" cy="475488"/>
          </a:xfrm>
          <a:prstGeom prst="roundRect">
            <a:avLst/>
          </a:prstGeom>
          <a:solidFill>
            <a:srgbClr val="EAF4E7"/>
          </a:solidFill>
          <a:ln w="12700">
            <a:solidFill>
              <a:srgbClr val="EAF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3401568"/>
            <a:ext cx="26974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F5E4E"/>
                </a:solidFill>
                <a:latin typeface="PingFang SC"/>
              </a:rPr>
              <a:t>一句话完成“找店、看店、去店、查资料”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223029"/>
                </a:solidFill>
                <a:latin typeface="PingFang SC"/>
              </a:rPr>
              <a:t>核心能力总览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0">
                <a:solidFill>
                  <a:srgbClr val="66736B"/>
                </a:solidFill>
                <a:latin typeface="PingFang SC"/>
              </a:rPr>
              <a:t>不是单一聊天框，而是一个任务型工作台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611880" cy="1097280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6112" y="1673351"/>
            <a:ext cx="566928" cy="566928"/>
          </a:xfrm>
          <a:prstGeom prst="roundRect">
            <a:avLst/>
          </a:prstGeom>
          <a:solidFill>
            <a:srgbClr val="2F5E4E"/>
          </a:solidFill>
          <a:ln w="12700"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7632" y="1655063"/>
            <a:ext cx="21945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Agent 对话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929384"/>
            <a:ext cx="23317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支持多轮会话、历史恢复、SSE 实时阶段展示。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1508760"/>
            <a:ext cx="3611880" cy="1097280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73752" y="1673351"/>
            <a:ext cx="566928" cy="566928"/>
          </a:xfrm>
          <a:prstGeom prst="roundRect">
            <a:avLst/>
          </a:prstGeom>
          <a:solidFill>
            <a:srgbClr val="D5E77A"/>
          </a:solidFill>
          <a:ln w="12700">
            <a:solidFill>
              <a:srgbClr val="D5E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5272" y="1655063"/>
            <a:ext cx="21945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机厅检索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5272" y="1929384"/>
            <a:ext cx="23317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按名称、地区、机种、排序筛选，并支持分页浏览。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3611880" cy="1097280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3090672"/>
            <a:ext cx="566928" cy="566928"/>
          </a:xfrm>
          <a:prstGeom prst="roundRect">
            <a:avLst/>
          </a:prstGeom>
          <a:solidFill>
            <a:srgbClr val="62B8D8"/>
          </a:solidFill>
          <a:ln w="12700">
            <a:solidFill>
              <a:srgbClr val="62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7632" y="3072384"/>
            <a:ext cx="21945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地图与路线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346704"/>
            <a:ext cx="23317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高德点位、候选门店、路线卡片和一键跳转导航。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926080"/>
            <a:ext cx="3611880" cy="1097280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73752" y="3090672"/>
            <a:ext cx="566928" cy="566928"/>
          </a:xfrm>
          <a:prstGeom prst="roundRect">
            <a:avLst/>
          </a:prstGeom>
          <a:solidFill>
            <a:srgbClr val="8D74D8"/>
          </a:solidFill>
          <a:ln w="12700">
            <a:solidFill>
              <a:srgbClr val="8D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05272" y="3072384"/>
            <a:ext cx="2194560" cy="23774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223029"/>
                </a:solidFill>
                <a:latin typeface="PingFang SC"/>
              </a:rPr>
              <a:t>知识库与附件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5272" y="3346704"/>
            <a:ext cx="2331720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66736B"/>
                </a:solidFill>
                <a:latin typeface="PingFang SC"/>
              </a:rPr>
              <a:t>支持文档上传、前端增删、批量删除、图片与文件随对话发送。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400"/>
            <a:ext cx="7589520" cy="411480"/>
          </a:xfrm>
          <a:prstGeom prst="roundRect">
            <a:avLst/>
          </a:prstGeom>
          <a:solidFill>
            <a:srgbClr val="17241F"/>
          </a:solidFill>
          <a:ln w="12700">
            <a:solidFill>
              <a:srgbClr val="172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43984"/>
            <a:ext cx="7132320" cy="14630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PingFang SC"/>
              </a:rPr>
              <a:t>价值主张：把自由表达的自然语言入口，与结构化检索和地图动作结果收拢到同一条工作流里。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223029"/>
                </a:solidFill>
                <a:latin typeface="PingFang SC"/>
              </a:rPr>
              <a:t>推荐演示顺序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0">
                <a:solidFill>
                  <a:srgbClr val="66736B"/>
                </a:solidFill>
                <a:latin typeface="PingFang SC"/>
              </a:rPr>
              <a:t>一套 5 步流程，最容易让观众快速理解项目价值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60120" y="2331720"/>
            <a:ext cx="7132320" cy="0"/>
          </a:xfrm>
          <a:prstGeom prst="line">
            <a:avLst/>
          </a:prstGeom>
          <a:ln w="381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41248" y="2057400"/>
            <a:ext cx="530352" cy="530352"/>
          </a:xfrm>
          <a:prstGeom prst="ellipse">
            <a:avLst/>
          </a:prstGeom>
          <a:solidFill>
            <a:srgbClr val="2F5E4E"/>
          </a:solidFill>
          <a:ln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185416"/>
            <a:ext cx="31089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417320"/>
            <a:ext cx="80467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23029"/>
                </a:solidFill>
                <a:latin typeface="PingFang SC"/>
              </a:rPr>
              <a:t>打开首页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64208"/>
            <a:ext cx="129844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19" b="0" i="0">
                <a:solidFill>
                  <a:srgbClr val="66736B"/>
                </a:solidFill>
                <a:latin typeface="PingFang SC"/>
              </a:rPr>
              <a:t>说明这是 Agent 工作台，而不是单纯聊天页。</a:t>
            </a:r>
          </a:p>
        </p:txBody>
      </p:sp>
      <p:sp>
        <p:nvSpPr>
          <p:cNvPr id="9" name="Oval 8"/>
          <p:cNvSpPr/>
          <p:nvPr/>
        </p:nvSpPr>
        <p:spPr>
          <a:xfrm>
            <a:off x="2624328" y="2057400"/>
            <a:ext cx="530352" cy="530352"/>
          </a:xfrm>
          <a:prstGeom prst="ellipse">
            <a:avLst/>
          </a:prstGeom>
          <a:solidFill>
            <a:srgbClr val="D5E77A"/>
          </a:solidFill>
          <a:ln>
            <a:solidFill>
              <a:srgbClr val="D5E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185416"/>
            <a:ext cx="31089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770632"/>
            <a:ext cx="80467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23029"/>
                </a:solidFill>
                <a:latin typeface="PingFang SC"/>
              </a:rPr>
              <a:t>演示对话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3017520"/>
            <a:ext cx="129844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19" b="0" i="0">
                <a:solidFill>
                  <a:srgbClr val="66736B"/>
                </a:solidFill>
                <a:latin typeface="PingFang SC"/>
              </a:rPr>
              <a:t>输入“帮我找适合下班后去的机厅”。</a:t>
            </a:r>
          </a:p>
        </p:txBody>
      </p:sp>
      <p:sp>
        <p:nvSpPr>
          <p:cNvPr id="13" name="Oval 12"/>
          <p:cNvSpPr/>
          <p:nvPr/>
        </p:nvSpPr>
        <p:spPr>
          <a:xfrm>
            <a:off x="4407408" y="2057400"/>
            <a:ext cx="530352" cy="530352"/>
          </a:xfrm>
          <a:prstGeom prst="ellipse">
            <a:avLst/>
          </a:prstGeom>
          <a:solidFill>
            <a:srgbClr val="F5A65B"/>
          </a:solidFill>
          <a:ln>
            <a:solidFill>
              <a:srgbClr val="F5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2185416"/>
            <a:ext cx="31089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1417320"/>
            <a:ext cx="80467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23029"/>
                </a:solidFill>
                <a:latin typeface="PingFang SC"/>
              </a:rPr>
              <a:t>上传附件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664208"/>
            <a:ext cx="129844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19" b="0" i="0">
                <a:solidFill>
                  <a:srgbClr val="66736B"/>
                </a:solidFill>
                <a:latin typeface="PingFang SC"/>
              </a:rPr>
              <a:t>带一份文档或截图，触发结合材料总结。</a:t>
            </a:r>
          </a:p>
        </p:txBody>
      </p:sp>
      <p:sp>
        <p:nvSpPr>
          <p:cNvPr id="17" name="Oval 16"/>
          <p:cNvSpPr/>
          <p:nvPr/>
        </p:nvSpPr>
        <p:spPr>
          <a:xfrm>
            <a:off x="6190488" y="2057400"/>
            <a:ext cx="530352" cy="530352"/>
          </a:xfrm>
          <a:prstGeom prst="ellipse">
            <a:avLst/>
          </a:prstGeom>
          <a:solidFill>
            <a:srgbClr val="62B8D8"/>
          </a:solidFill>
          <a:ln>
            <a:solidFill>
              <a:srgbClr val="62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185416"/>
            <a:ext cx="31089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2770632"/>
            <a:ext cx="80467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23029"/>
                </a:solidFill>
                <a:latin typeface="PingFang SC"/>
              </a:rPr>
              <a:t>检索机厅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3017520"/>
            <a:ext cx="129844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19" b="0" i="0">
                <a:solidFill>
                  <a:srgbClr val="66736B"/>
                </a:solidFill>
                <a:latin typeface="PingFang SC"/>
              </a:rPr>
              <a:t>展示结构化筛选、分页、详情与候选结果。</a:t>
            </a:r>
          </a:p>
        </p:txBody>
      </p:sp>
      <p:sp>
        <p:nvSpPr>
          <p:cNvPr id="21" name="Oval 20"/>
          <p:cNvSpPr/>
          <p:nvPr/>
        </p:nvSpPr>
        <p:spPr>
          <a:xfrm>
            <a:off x="7973568" y="2057400"/>
            <a:ext cx="530352" cy="530352"/>
          </a:xfrm>
          <a:prstGeom prst="ellipse">
            <a:avLst/>
          </a:prstGeom>
          <a:solidFill>
            <a:srgbClr val="8D74D8"/>
          </a:solidFill>
          <a:ln>
            <a:solidFill>
              <a:srgbClr val="8D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2185416"/>
            <a:ext cx="310896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6408" y="1417320"/>
            <a:ext cx="80467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00" b="1" i="0">
                <a:solidFill>
                  <a:srgbClr val="223029"/>
                </a:solidFill>
                <a:latin typeface="PingFang SC"/>
              </a:rPr>
              <a:t>管理知识库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664208"/>
            <a:ext cx="1298448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019" b="0" i="0">
                <a:solidFill>
                  <a:srgbClr val="66736B"/>
                </a:solidFill>
                <a:latin typeface="PingFang SC"/>
              </a:rPr>
              <a:t>演示上传、单删、批量删除与索引维护。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01968" y="877824"/>
            <a:ext cx="1737360" cy="438912"/>
          </a:xfrm>
          <a:prstGeom prst="roundRect">
            <a:avLst/>
          </a:prstGeom>
          <a:solidFill>
            <a:srgbClr val="EAF4E7"/>
          </a:solidFill>
          <a:ln w="12700">
            <a:solidFill>
              <a:srgbClr val="EAF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978408"/>
            <a:ext cx="1371600" cy="12801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00" b="1" i="0">
                <a:solidFill>
                  <a:srgbClr val="2F5E4E"/>
                </a:solidFill>
                <a:latin typeface="PingFang SC"/>
              </a:rPr>
              <a:t>建议控制在 3-5 分钟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ingFang SC"/>
              </a:rPr>
              <a:t>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0">
                <a:solidFill>
                  <a:srgbClr val="A7D89E"/>
                </a:solidFill>
                <a:latin typeface="PingFang SC"/>
              </a:rPr>
              <a:t>把 Agent、地图、知识和实时交互连成完整产品体验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261872"/>
            <a:ext cx="3547872" cy="786384"/>
          </a:xfrm>
          <a:prstGeom prst="roundRect">
            <a:avLst/>
          </a:prstGeom>
          <a:solidFill>
            <a:srgbClr val="24342D"/>
          </a:solidFill>
          <a:ln w="12700">
            <a:solidFill>
              <a:srgbClr val="24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1426463"/>
            <a:ext cx="109728" cy="438912"/>
          </a:xfrm>
          <a:prstGeom prst="rect">
            <a:avLst/>
          </a:prstGeom>
          <a:solidFill>
            <a:srgbClr val="A7D89E"/>
          </a:solidFill>
          <a:ln w="12700">
            <a:solidFill>
              <a:srgbClr val="A7D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1371600"/>
            <a:ext cx="1051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PingFang SC"/>
              </a:rPr>
              <a:t>Agent 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572768"/>
            <a:ext cx="2697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50" b="0" i="0">
                <a:solidFill>
                  <a:srgbClr val="DBE6DE"/>
                </a:solidFill>
                <a:latin typeface="PingFang SC"/>
              </a:rPr>
              <a:t>不是黑盒回复，而是 main agent + worker + tool 的完整决策链。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76272"/>
            <a:ext cx="3547872" cy="786384"/>
          </a:xfrm>
          <a:prstGeom prst="roundRect">
            <a:avLst/>
          </a:prstGeom>
          <a:solidFill>
            <a:srgbClr val="24342D"/>
          </a:solidFill>
          <a:ln w="12700">
            <a:solidFill>
              <a:srgbClr val="24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2340864"/>
            <a:ext cx="109728" cy="438912"/>
          </a:xfrm>
          <a:prstGeom prst="rect">
            <a:avLst/>
          </a:prstGeom>
          <a:solidFill>
            <a:srgbClr val="D5E77A"/>
          </a:solidFill>
          <a:ln w="12700">
            <a:solidFill>
              <a:srgbClr val="D5E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2286000"/>
            <a:ext cx="1051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PingFang SC"/>
              </a:rPr>
              <a:t>SSE 实时回推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2487168"/>
            <a:ext cx="2697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50" b="0" i="0">
                <a:solidFill>
                  <a:srgbClr val="DBE6DE"/>
                </a:solidFill>
                <a:latin typeface="PingFang SC"/>
              </a:rPr>
              <a:t>前端能看到 session、subagent、tool、token 等阶段事件。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090672"/>
            <a:ext cx="3547872" cy="786384"/>
          </a:xfrm>
          <a:prstGeom prst="roundRect">
            <a:avLst/>
          </a:prstGeom>
          <a:solidFill>
            <a:srgbClr val="24342D"/>
          </a:solidFill>
          <a:ln w="12700">
            <a:solidFill>
              <a:srgbClr val="24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" y="3255264"/>
            <a:ext cx="109728" cy="438912"/>
          </a:xfrm>
          <a:prstGeom prst="rect">
            <a:avLst/>
          </a:prstGeom>
          <a:solidFill>
            <a:srgbClr val="62B8D8"/>
          </a:solidFill>
          <a:ln w="12700">
            <a:solidFill>
              <a:srgbClr val="62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3200400"/>
            <a:ext cx="1051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PingFang SC"/>
              </a:rPr>
              <a:t>地图 Artifacts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401568"/>
            <a:ext cx="2697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50" b="0" i="0">
                <a:solidFill>
                  <a:srgbClr val="DBE6DE"/>
                </a:solidFill>
                <a:latin typeface="PingFang SC"/>
              </a:rPr>
              <a:t>路线、候选门店、终点信息都以结构化结果进入 UI。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1728" y="1261872"/>
            <a:ext cx="3547872" cy="786384"/>
          </a:xfrm>
          <a:prstGeom prst="roundRect">
            <a:avLst/>
          </a:prstGeom>
          <a:solidFill>
            <a:srgbClr val="24342D"/>
          </a:solidFill>
          <a:ln w="12700">
            <a:solidFill>
              <a:srgbClr val="24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28032" y="1426463"/>
            <a:ext cx="109728" cy="438912"/>
          </a:xfrm>
          <a:prstGeom prst="rect">
            <a:avLst/>
          </a:prstGeom>
          <a:solidFill>
            <a:srgbClr val="F5A65B"/>
          </a:solidFill>
          <a:ln w="12700">
            <a:solidFill>
              <a:srgbClr val="F5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1371600"/>
            <a:ext cx="1051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PingFang SC"/>
              </a:rPr>
              <a:t>RAG 可维护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1572768"/>
            <a:ext cx="2697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50" b="0" i="0">
                <a:solidFill>
                  <a:srgbClr val="DBE6DE"/>
                </a:solidFill>
                <a:latin typeface="PingFang SC"/>
              </a:rPr>
              <a:t>前端直接增删知识文件并支持批量删除，便于长期维护。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1728" y="2176272"/>
            <a:ext cx="3547872" cy="786384"/>
          </a:xfrm>
          <a:prstGeom prst="roundRect">
            <a:avLst/>
          </a:prstGeom>
          <a:solidFill>
            <a:srgbClr val="24342D"/>
          </a:solidFill>
          <a:ln w="12700">
            <a:solidFill>
              <a:srgbClr val="243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28032" y="2340864"/>
            <a:ext cx="109728" cy="438912"/>
          </a:xfrm>
          <a:prstGeom prst="rect">
            <a:avLst/>
          </a:prstGeom>
          <a:solidFill>
            <a:srgbClr val="D1B4FF"/>
          </a:solidFill>
          <a:ln w="12700">
            <a:solidFill>
              <a:srgbClr val="D1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65776" y="2286000"/>
            <a:ext cx="105156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PingFang SC"/>
              </a:rPr>
              <a:t>附件对话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65776" y="2487168"/>
            <a:ext cx="269748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50" b="0" i="0">
                <a:solidFill>
                  <a:srgbClr val="DBE6DE"/>
                </a:solidFill>
                <a:latin typeface="PingFang SC"/>
              </a:rPr>
              <a:t>文件和图片会参与当前轮问答，而不只是“能上传”。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223029"/>
                </a:solidFill>
                <a:latin typeface="PingFang SC"/>
              </a:rPr>
              <a:t>系统架构简述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0">
                <a:solidFill>
                  <a:srgbClr val="66736B"/>
                </a:solidFill>
                <a:latin typeface="PingFang SC"/>
              </a:rPr>
              <a:t>前端负责交互与呈现，后端负责会话、Agent、工具和知识能力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91640"/>
            <a:ext cx="1508760" cy="1874519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1832" y="1847088"/>
            <a:ext cx="1179576" cy="146304"/>
          </a:xfrm>
          <a:prstGeom prst="rect">
            <a:avLst/>
          </a:prstGeom>
          <a:solidFill>
            <a:srgbClr val="2F5E4E"/>
          </a:solidFill>
          <a:ln w="12700"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84831"/>
            <a:ext cx="111556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50" b="1" i="0">
                <a:solidFill>
                  <a:srgbClr val="223029"/>
                </a:solidFill>
                <a:latin typeface="PingFang SC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111556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2F5E4E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React + TypeScript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2F5E4E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聊天、检索、知识库工作台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2F5E4E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地图卡片 / 路线卡片 / 分页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691640"/>
            <a:ext cx="1508760" cy="1874519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36392" y="1847088"/>
            <a:ext cx="1179576" cy="146304"/>
          </a:xfrm>
          <a:prstGeom prst="rect">
            <a:avLst/>
          </a:prstGeom>
          <a:solidFill>
            <a:srgbClr val="F5A65B"/>
          </a:solidFill>
          <a:ln w="12700">
            <a:solidFill>
              <a:srgbClr val="F5A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36392" y="2084831"/>
            <a:ext cx="111556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50" b="1" i="0">
                <a:solidFill>
                  <a:srgbClr val="223029"/>
                </a:solidFill>
                <a:latin typeface="PingFang SC"/>
              </a:rPr>
              <a:t>Session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95728"/>
            <a:ext cx="111556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F5A65B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FastAPI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F5A65B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异步会话派发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F5A65B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SSE 事件流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691640"/>
            <a:ext cx="1508760" cy="1874519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30952" y="1847088"/>
            <a:ext cx="1179576" cy="146304"/>
          </a:xfrm>
          <a:prstGeom prst="rect">
            <a:avLst/>
          </a:prstGeom>
          <a:solidFill>
            <a:srgbClr val="62B8D8"/>
          </a:solidFill>
          <a:ln w="12700">
            <a:solidFill>
              <a:srgbClr val="62B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084831"/>
            <a:ext cx="111556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50" b="1" i="0">
                <a:solidFill>
                  <a:srgbClr val="223029"/>
                </a:solidFill>
                <a:latin typeface="PingFang SC"/>
              </a:rPr>
              <a:t>Agent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2395728"/>
            <a:ext cx="111556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62B8D8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main_agent / workers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62B8D8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working memory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62B8D8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tool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691640"/>
            <a:ext cx="1508760" cy="1874519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FFF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25512" y="1847088"/>
            <a:ext cx="1179576" cy="146304"/>
          </a:xfrm>
          <a:prstGeom prst="rect">
            <a:avLst/>
          </a:prstGeom>
          <a:solidFill>
            <a:srgbClr val="8D74D8"/>
          </a:solidFill>
          <a:ln w="12700">
            <a:solidFill>
              <a:srgbClr val="8D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2084831"/>
            <a:ext cx="1115568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350" b="1" i="0">
                <a:solidFill>
                  <a:srgbClr val="223029"/>
                </a:solidFill>
                <a:latin typeface="PingFang SC"/>
              </a:rPr>
              <a:t>Tools &amp;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395728"/>
            <a:ext cx="1115568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8D74D8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机厅检索 / 路线规划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8D74D8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高德 API / MCP</a:t>
            </a:r>
          </a:p>
          <a:p>
            <a:pPr algn="l">
              <a:spcAft>
                <a:spcPts val="600"/>
              </a:spcAft>
            </a:pPr>
            <a:r>
              <a:rPr sz="1050" b="1">
                <a:solidFill>
                  <a:srgbClr val="8D74D8"/>
                </a:solidFill>
                <a:latin typeface="PingFang SC"/>
              </a:rPr>
              <a:t>• </a:t>
            </a:r>
            <a:r>
              <a:rPr sz="1050">
                <a:solidFill>
                  <a:srgbClr val="66736B"/>
                </a:solidFill>
                <a:latin typeface="PingFang SC"/>
              </a:rPr>
              <a:t>RAG / 本地知识源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86000" y="2633472"/>
            <a:ext cx="685800" cy="0"/>
          </a:xfrm>
          <a:prstGeom prst="line">
            <a:avLst/>
          </a:prstGeom>
          <a:ln w="381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80560" y="2633472"/>
            <a:ext cx="685800" cy="0"/>
          </a:xfrm>
          <a:prstGeom prst="line">
            <a:avLst/>
          </a:prstGeom>
          <a:ln w="381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75120" y="2633472"/>
            <a:ext cx="685800" cy="0"/>
          </a:xfrm>
          <a:prstGeom prst="line">
            <a:avLst/>
          </a:prstGeom>
          <a:ln w="38100">
            <a:solidFill>
              <a:srgbClr val="D8DD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143000" y="3977639"/>
            <a:ext cx="6858000" cy="384048"/>
          </a:xfrm>
          <a:prstGeom prst="roundRect">
            <a:avLst/>
          </a:prstGeom>
          <a:solidFill>
            <a:srgbClr val="EAF4E7"/>
          </a:solidFill>
          <a:ln w="12700">
            <a:solidFill>
              <a:srgbClr val="EAF4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069080"/>
            <a:ext cx="6583680" cy="1097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130" b="1" i="0">
                <a:solidFill>
                  <a:srgbClr val="2F5E4E"/>
                </a:solidFill>
                <a:latin typeface="PingFang SC"/>
              </a:rPr>
              <a:t>统一链路：请求进入 session 后由 Agent 决策是否调用搜索、路线或知识工具，再把结构化结果推回前端渲染。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603504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 i="0">
                <a:solidFill>
                  <a:srgbClr val="223029"/>
                </a:solidFill>
                <a:latin typeface="PingFang SC"/>
              </a:rPr>
              <a:t>业务与工程价值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960120"/>
            <a:ext cx="56692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50" b="0" i="0">
                <a:solidFill>
                  <a:srgbClr val="66736B"/>
                </a:solidFill>
                <a:latin typeface="PingFang SC"/>
              </a:rPr>
              <a:t>它不仅适合音游机厅，也能迁移到更广的本地服务场景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72768"/>
            <a:ext cx="2148840" cy="1901952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463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2F5E4E"/>
                </a:solidFill>
                <a:latin typeface="PingFang SC"/>
              </a:rPr>
              <a:t>业务价值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76272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F5E4E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从找信息变成做决策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F5E4E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让地图与检索结果可被直接行动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2F5E4E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演示时用户很容易感知产品闭环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18688" y="1572768"/>
            <a:ext cx="2148840" cy="1901952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783080"/>
            <a:ext cx="1463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62B8D8"/>
                </a:solidFill>
                <a:latin typeface="PingFang SC"/>
              </a:rPr>
              <a:t>工程价值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76272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62B8D8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前后端协同 + 实时协议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2B8D8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Agent 工具编排清晰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62B8D8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知识库维护能力已经产品化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87568" y="1572768"/>
            <a:ext cx="2148840" cy="1901952"/>
          </a:xfrm>
          <a:prstGeom prst="roundRect">
            <a:avLst/>
          </a:prstGeom>
          <a:solidFill>
            <a:srgbClr val="F7F1E6"/>
          </a:solidFill>
          <a:ln w="12700">
            <a:solidFill>
              <a:srgbClr val="F7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1783080"/>
            <a:ext cx="146304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F5A65B"/>
                </a:solidFill>
                <a:latin typeface="PingFang SC"/>
              </a:rPr>
              <a:t>迁移空间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2176272"/>
            <a:ext cx="1737360" cy="10149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5B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门店导览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5B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展馆 / 景点助手</a:t>
            </a: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5B"/>
                </a:solidFill>
                <a:latin typeface="PingFang SC"/>
              </a:rPr>
              <a:t>• </a:t>
            </a:r>
            <a:r>
              <a:rPr sz="1100">
                <a:solidFill>
                  <a:srgbClr val="223029"/>
                </a:solidFill>
                <a:latin typeface="PingFang SC"/>
              </a:rPr>
              <a:t>园区服务与本地生活路线问答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767328"/>
            <a:ext cx="7086600" cy="640080"/>
          </a:xfrm>
          <a:prstGeom prst="roundRect">
            <a:avLst/>
          </a:prstGeom>
          <a:solidFill>
            <a:srgbClr val="17241F"/>
          </a:solidFill>
          <a:ln w="12700">
            <a:solidFill>
              <a:srgbClr val="172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877056"/>
            <a:ext cx="6537960" cy="29260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ingFang SC"/>
              </a:rPr>
              <a:t>Arcadegent 的价值不只在音游场景本身，而在于“对话 + 搜索 + 地图 + 知识”的工作台架构可以被复用。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4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868680"/>
            <a:ext cx="1645920" cy="1645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914400"/>
            <a:ext cx="4663440" cy="512064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A7D89E"/>
                </a:solidFill>
                <a:latin typeface="PingFang SC"/>
              </a:rPr>
              <a:t>收尾总结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444752"/>
            <a:ext cx="544068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ingFang SC"/>
              </a:rPr>
              <a:t>Arcadegent 的重点不是“做了一个聊天框”，
而是把自然语言对话、结构化检索、地图路线、知识库维护和实时过程展示整合成了一个完整的 Agent 产品原型。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907792"/>
            <a:ext cx="50749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450" b="0" i="0">
                <a:solidFill>
                  <a:srgbClr val="D8E8DE"/>
                </a:solidFill>
                <a:latin typeface="PingFang SC"/>
              </a:rPr>
              <a:t>它既能展示业务价值，也能体现前后端协作、Agent 编排、RAG 接入与交互体验设计能力。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4069080"/>
            <a:ext cx="1188720" cy="384048"/>
          </a:xfrm>
          <a:prstGeom prst="roundRect">
            <a:avLst/>
          </a:prstGeom>
          <a:solidFill>
            <a:srgbClr val="2F5E4E"/>
          </a:solidFill>
          <a:ln w="12700">
            <a:solidFill>
              <a:srgbClr val="2F5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0873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任务型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9696" y="4069080"/>
            <a:ext cx="1188720" cy="384048"/>
          </a:xfrm>
          <a:prstGeom prst="roundRect">
            <a:avLst/>
          </a:prstGeom>
          <a:solidFill>
            <a:srgbClr val="30443C"/>
          </a:solidFill>
          <a:ln w="12700">
            <a:solidFill>
              <a:srgbClr val="304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40873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地图结果可视化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296" y="4069080"/>
            <a:ext cx="1188720" cy="384048"/>
          </a:xfrm>
          <a:prstGeom prst="roundRect">
            <a:avLst/>
          </a:prstGeom>
          <a:solidFill>
            <a:srgbClr val="45554F"/>
          </a:solidFill>
          <a:ln w="12700">
            <a:solidFill>
              <a:srgbClr val="455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296" y="40873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知识库可维护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2896" y="4069080"/>
            <a:ext cx="1463040" cy="384048"/>
          </a:xfrm>
          <a:prstGeom prst="roundRect">
            <a:avLst/>
          </a:prstGeom>
          <a:solidFill>
            <a:srgbClr val="5B6863"/>
          </a:solidFill>
          <a:ln w="12700">
            <a:solidFill>
              <a:srgbClr val="5B6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82896" y="408736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/>
              </a:rPr>
              <a:t>附件对话已接入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Arcadegent Demo Deck</dc:title>
  <dc:subject>Arcadegent 项目演示</dc:subject>
  <dc:creator>Codex</dc:creator>
  <cp:keywords>Arcadegent, Agent, Demo, PPT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